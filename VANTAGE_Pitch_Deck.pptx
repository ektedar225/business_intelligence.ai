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ACCENTURE INNOVATION CHALLENGE 2026  ·  ROUND 2  ·  TRACK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VANTAGE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Intelligence-to-Action Engine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4023360"/>
            <a:ext cx="1828800" cy="0"/>
          </a:xfrm>
          <a:prstGeom prst="line">
            <a:avLst/>
          </a:prstGeom>
          <a:noFill/>
          <a:ln w="38100">
            <a:solidFill>
              <a:srgbClr val="19C3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572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LLM Never Touches a Number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figure is deterministically computed, lineage-traced, and verified before delivery.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Detects material KPI movements, explains drivers with evidence, and recommends persona-specific actions.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Current KPI Systems Fall Short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2148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 Show Symptoms, Not Causes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45059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business intelligence tools report that a metric moved, but they cannot explain why it moved or what to do about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06324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54480" y="32004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Root Cause Analysis Takes Days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021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Analysts spend days reconciling data from fragmented systems with different refresh cadences and granularities.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54480" y="425196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GenAI Wrappers Hallucinate Numbers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455371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Text-to-SQL chatbots are fast at retrieval but fabricate explanations and lack numerical accountability.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516636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303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5303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One-Size-Fits-All Insights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560527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Generic explanations ignore role-based decision rights, data entitlements, and actionable levers.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VANTAGE: Intelligence-to-Action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hybrid system that separates deterministic computation from narrative generation, ensuring every number is traceable and every insight is actionable.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DETECT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Materiality detection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seasonality-aware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41448" y="3063240"/>
            <a:ext cx="100584" cy="182880"/>
          </a:xfrm>
          <a:prstGeom prst="rightArrow">
            <a:avLst/>
          </a:prstGeom>
          <a:solidFill>
            <a:srgbClr val="404040"/>
          </a:solidFill>
          <a:ln/>
        </p:spPr>
      </p:sp>
      <p:sp>
        <p:nvSpPr>
          <p:cNvPr id="10" name="Shape 8"/>
          <p:cNvSpPr/>
          <p:nvPr/>
        </p:nvSpPr>
        <p:spPr>
          <a:xfrm>
            <a:off x="2560320" y="256032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26974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RECONCILE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301752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Multi-source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reconciliation across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grains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0248" y="3063240"/>
            <a:ext cx="100584" cy="182880"/>
          </a:xfrm>
          <a:prstGeom prst="rightArrow">
            <a:avLst/>
          </a:prstGeom>
          <a:solidFill>
            <a:srgbClr val="404040"/>
          </a:solidFill>
          <a:ln/>
        </p:spPr>
      </p:sp>
      <p:sp>
        <p:nvSpPr>
          <p:cNvPr id="14" name="Shape 12"/>
          <p:cNvSpPr/>
          <p:nvPr/>
        </p:nvSpPr>
        <p:spPr>
          <a:xfrm>
            <a:off x="4389120" y="256032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6974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DIAGNOSE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301752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ladder: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arithmetic → contribution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event join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99048" y="3063240"/>
            <a:ext cx="100584" cy="182880"/>
          </a:xfrm>
          <a:prstGeom prst="rightArrow">
            <a:avLst/>
          </a:prstGeom>
          <a:solidFill>
            <a:srgbClr val="40404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256032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6974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COMPOSE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301752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bundles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confidence scores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lineage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27848" y="3063240"/>
            <a:ext cx="100584" cy="182880"/>
          </a:xfrm>
          <a:prstGeom prst="rightArrow">
            <a:avLst/>
          </a:prstGeom>
          <a:solidFill>
            <a:srgbClr val="404040"/>
          </a:solidFill>
          <a:ln/>
        </p:spPr>
      </p:sp>
      <p:sp>
        <p:nvSpPr>
          <p:cNvPr id="22" name="Shape 20"/>
          <p:cNvSpPr/>
          <p:nvPr/>
        </p:nvSpPr>
        <p:spPr>
          <a:xfrm>
            <a:off x="8046720" y="256032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FAFAFA"/>
          </a:solidFill>
          <a:ln w="25400">
            <a:solidFill>
              <a:srgbClr val="19C37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26974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NARRATE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301752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Persona-specific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narratives with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 firewall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756648" y="3063240"/>
            <a:ext cx="100584" cy="182880"/>
          </a:xfrm>
          <a:prstGeom prst="rightArrow">
            <a:avLst/>
          </a:prstGeom>
          <a:solidFill>
            <a:srgbClr val="404040"/>
          </a:solidFill>
          <a:ln/>
        </p:spPr>
      </p:sp>
      <p:sp>
        <p:nvSpPr>
          <p:cNvPr id="26" name="Shape 24"/>
          <p:cNvSpPr/>
          <p:nvPr/>
        </p:nvSpPr>
        <p:spPr>
          <a:xfrm>
            <a:off x="9875520" y="256032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0" y="26974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ACT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875520" y="301752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actions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filtered by decision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" y="411480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E6F7F1"/>
          </a:solidFill>
          <a:ln w="25400">
            <a:solidFill>
              <a:srgbClr val="19C37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" y="4343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 FIREWALL: Post-narrative validation ensures no orphan numerals or fabricated claims escape to the user.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31520" y="5623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747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3474720" y="5623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Calls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Numbers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179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&lt;200ms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6217920" y="5623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$0.00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8961120" y="5623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Layered Analysis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8F8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L1: Reconciliation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heterogeneous sources onto unified calendar with freshness watermarks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L2: Materiality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 which KPI movements are worth explaining (statistical + business impact)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8F8F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91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L3: Diagnosis Ladder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via arithmetic bridge → contribution analysis → event join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79476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886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L4: Evidence Bundle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Immutable, typed, content-hashed object with all facts and lineage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38912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8F8F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480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L5: Confidence &amp; Abstention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Five-component confidence score + explicit abstention when evidence insufficient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98348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074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L6: Narrative + Firewall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5074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Persona-specific text generation with post-validation of all numerals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557784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8F8F8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L7: Action Composition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5669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actions by persona decision rights and recommend levers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" y="617220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L8: Feedback &amp; Audit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404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Beta-Bernoulli weight updates + hash-chained audit ledger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 Statement Requirements: All Met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E6F7F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 &amp; prioritize material KPI movements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L2 Materiality: seasonal baseline + 2-axis scoring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32888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243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Reconcile heterogeneous sources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26243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L1 Reconciliation: multi-grain calendar projection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3145536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E6F7F1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369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&amp; rank explanatory drivers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323697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L3 Diagnosis: 3-method attribution ladder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758184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849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persona-specific narratives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0" y="384962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L6 Narrative: role-based text with evidence citations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370832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E6F7F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4622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Communicate uncertainty &amp; abstain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0" y="446227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L5 Confidence: 3 abstention modes with resolution paths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983480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074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practical actions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L7 Actions: filtered by decision rights, impact estimates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5596128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E6F7F1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875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from feedback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0" y="56875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L8 Feedback: Beta-Bernoulli weight updates persist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" y="6208776"/>
            <a:ext cx="106984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630021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Security, cost, latency constraints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0" y="630021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Row/column policies, $0 cost, &lt;200ms latency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DEMONSTRATION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Working Scenarios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19C37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1031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Multi-Factor Movement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68880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Net Revenue drop with known injected drivers (price, volume, mix)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54480" y="2633472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Full diagnosis with arithmetic bridge + contribution analysis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54480" y="2798064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Recovery scorecard validates actual driver recall against ground truth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54480" y="2962656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Persona-specific actions (CFO vs Marketing Director)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54480" y="3127248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Demonstrates: heterogeneous sources, confidence scoring, numeric firewall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342900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566160"/>
            <a:ext cx="457200" cy="457200"/>
          </a:xfrm>
          <a:prstGeom prst="ellipse">
            <a:avLst/>
          </a:prstGeom>
          <a:solidFill>
            <a:srgbClr val="19C37D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3611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Feed Abstention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3977640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Supply feed is 72 hours stale, blocking reliable diagnosis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54480" y="4142232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Engine explicitly abstains instead of guessing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54480" y="4306824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Explains what's missing, who owns the resolution, and ETA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554480" y="4471416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Demonstrates: data quality flags, abstention modes, uncertainty communication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93776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5074920"/>
            <a:ext cx="457200" cy="457200"/>
          </a:xfrm>
          <a:prstGeom prst="ellipse">
            <a:avLst/>
          </a:prstGeom>
          <a:solidFill>
            <a:srgbClr val="19C37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074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54480" y="5120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 History (New KPI)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54480" y="5486400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CAC for a newly launched product family (only 3 weeks of data)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54480" y="5650992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Insufficient history for confident trend detection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554480" y="5815584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Engine states the limitation and what would resolve it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554480" y="5980176"/>
            <a:ext cx="9601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Demonstrates: sparse-history abstention, new product scenario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 Stack &amp; Deployment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698480" cy="640080"/>
          </a:xfrm>
          <a:prstGeom prst="roundRect">
            <a:avLst>
              <a:gd name="adj" fmla="val 7143"/>
            </a:avLst>
          </a:prstGeom>
          <a:solidFill>
            <a:srgbClr val="F8F8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2148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3.10+ | Pandas | NumPy | Pydantic | PyYAML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697480"/>
            <a:ext cx="106984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34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Layer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 | Uvicorn | CORS middleware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10698480" cy="640080"/>
          </a:xfrm>
          <a:prstGeom prst="roundRect">
            <a:avLst>
              <a:gd name="adj" fmla="val 7143"/>
            </a:avLst>
          </a:prstGeom>
          <a:solidFill>
            <a:srgbClr val="F8F8F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5204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Vanilla JavaScript | HTML5 | CSS3 (no framework dependencies)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4069080"/>
            <a:ext cx="106984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06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2062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 suite with ground truth validation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754880"/>
            <a:ext cx="10698480" cy="640080"/>
          </a:xfrm>
          <a:prstGeom prst="roundRect">
            <a:avLst>
              <a:gd name="adj" fmla="val 7143"/>
            </a:avLst>
          </a:prstGeom>
          <a:solidFill>
            <a:srgbClr val="F8F8F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92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4892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CSV/JSONL (demo) | Extensible to SQL, Snowflake, Databricks, Fabric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5440680"/>
            <a:ext cx="106984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77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5577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Containerized (Docker) | Cloud-ready (AWS/Azure/GCP)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6309360"/>
            <a:ext cx="10698480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731520" y="65836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vs Non-LLM Breakdown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69951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(Python): Detection, reconciliation, attribution, confidence, action composition, firewall validation, audit logging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0" y="69951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LLM: Narrative phrasing only (T0 template used in prototype = 0 model calls, $0 cost)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 &amp; Scalability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Speed to Action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→ Minutes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Reduces root cause analysis from manual analyst days to sub-second automated diagnosis, enabling real-time decision-making.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1488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Democratized Intelligence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4688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SQL Required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2834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Empowers non-technical executives to understand KPI movements without waiting for the analytics team.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657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947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&amp; Auditability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 Traceable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cites its source tables, method, and lineage. Hash-chained audit log for compliance.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657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7947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Efficiency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41148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 per Insight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Template-tier narrative generation eliminates LLM API costs while maintaining quality and accountability.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5303520"/>
            <a:ext cx="10698480" cy="822960"/>
          </a:xfrm>
          <a:prstGeom prst="roundRect">
            <a:avLst>
              <a:gd name="adj" fmla="val 8889"/>
            </a:avLst>
          </a:prstGeom>
          <a:solidFill>
            <a:srgbClr val="E6F7F1"/>
          </a:solidFill>
          <a:ln w="25400">
            <a:solidFill>
              <a:srgbClr val="19C3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440680"/>
            <a:ext cx="10332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SCALABILITY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Department-agnostic design: Adding new KPIs (Sales → Supply Chain → HR) requires only YAML config changes, not code rewrites. Horizontal scaling via containerization. Integration-ready with Snowflake, Databricks, Microsoft Fabric, Tableau, and Looker.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Prototype to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to real enterprise data sources (Snowflake, Databricks, SQL warehouses)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3474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KPI registry to cover cross-functional metrics (Finance, Marketing, Supply Chain, HR)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3977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 causal inference methods for stronger counterfactual reasoning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434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44805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proactive alert system for real-time monitoring and Slack/Teams delivery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tier-2 LLM narrative generation for complex, multi-driver scenarios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440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C3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54864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 continuous learning loop with expert validation and A/B testing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760720"/>
            <a:ext cx="1828800" cy="0"/>
          </a:xfrm>
          <a:prstGeom prst="line">
            <a:avLst/>
          </a:prstGeom>
          <a:noFill/>
          <a:ln w="38100">
            <a:solidFill>
              <a:srgbClr val="19C37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Just Look at Your Data. Understand It.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Accenture Innovation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VANTAGE Team</dc:creator>
  <cp:lastModifiedBy>VANTAGE Team</cp:lastModifiedBy>
  <cp:revision>1</cp:revision>
  <dcterms:created xsi:type="dcterms:W3CDTF">2026-08-30T06:58:04Z</dcterms:created>
  <dcterms:modified xsi:type="dcterms:W3CDTF">2026-08-30T06:58:04Z</dcterms:modified>
</cp:coreProperties>
</file>