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True vs. diagnosed contribution share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%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Promo ended</c:v>
                  </c:pt>
                  <c:pt idx="1">
                    <c:v>Stockout</c:v>
                  </c:pt>
                  <c:pt idx="2">
                    <c:v>Channel mix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65.5</c:v>
                </c:pt>
                <c:pt idx="1">
                  <c:v>28.4</c:v>
                </c:pt>
                <c:pt idx="2">
                  <c:v>14.4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Diagnosed %</c:v>
                </c:pt>
              </c:strCache>
            </c:strRef>
          </c:tx>
          <c:spPr>
            <a:solidFill>
              <a:srgbClr val="1F8A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Promo ended</c:v>
                  </c:pt>
                  <c:pt idx="1">
                    <c:v>Stockout</c:v>
                  </c:pt>
                  <c:pt idx="2">
                    <c:v>Channel mix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65.5</c:v>
                </c:pt>
                <c:pt idx="1">
                  <c:v>28.4</c:v>
                </c:pt>
                <c:pt idx="2">
                  <c:v>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5B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Region-level margin % (correctly computed)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AMER</c:v>
                  </c:pt>
                  <c:pt idx="1">
                    <c:v>APAC</c:v>
                  </c:pt>
                  <c:pt idx="2">
                    <c:v>EMEA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43.69</c:v>
                </c:pt>
                <c:pt idx="1">
                  <c:v>9.15</c:v>
                </c:pt>
                <c:pt idx="2">
                  <c:v>41.39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B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114800" cy="41148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F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INNOVATION CHALLENGE 2026  ·  ROUND 2  ·  TRACK 3 — BUSINESSINTELLIGENCE.AI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Intelligence-to-Action Engine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never touches a number.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a pointer to a deterministically computed, lineage-traced evidence object — verified before delivery.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KPI copilots are one hallucination away from disaster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days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out why revenue moved — manual SQL archaeology, every time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0574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 alerts/week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33832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materiality is one threshold on one metric, so analysts stop reading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0574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wrong number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49640" y="33832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it takes: an LLM asked to compute a KPI can also invent one, silently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instruction is precise: the LLM should not be treated as the source of quantitative truth. Most teams will build “SQL → LLM → nice paragraph.” That fails it.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core. Generative shell.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is a governed analytical engine with a generative interface — not a chatbot with a database plugged 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3558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statistics, and rule-based reconciliation  </a:t>
            </a:r>
            <a:pPr indent="0" marL="0">
              <a:buNone/>
            </a:pPr>
            <a:r>
              <a:rPr lang="en-US" sz="1500" dirty="0">
                <a:solidFill>
                  <a:srgbClr val="AF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every number — L0 through L6, zero model calls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087368"/>
            <a:ext cx="384048" cy="384048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40142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immutable, content-hashed Evidence Bundle  </a:t>
            </a:r>
            <a:pPr indent="0" marL="0">
              <a:buNone/>
            </a:pPr>
            <a:r>
              <a:rPr lang="en-US" sz="1500" dirty="0">
                <a:solidFill>
                  <a:srgbClr val="AF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thing the model ever sees — no database, no raw tables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745736"/>
            <a:ext cx="384048" cy="384048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45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67258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 firewall + causal-language gate  </a:t>
            </a:r>
            <a:pPr indent="0" marL="0">
              <a:buNone/>
            </a:pPr>
            <a:r>
              <a:rPr lang="en-US" sz="1500" dirty="0">
                <a:solidFill>
                  <a:srgbClr val="AF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re-derives every figure in the generated text and rejects orphans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layers; the model speaks only through one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952244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5224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L0-L1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1965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Reconciliation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conformance, entity resolution, freshness watermarking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985516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98551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85292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Governance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31638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KPI contracts: definitions, driver DAG, entitlements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401878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01878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88620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Materiality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41970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baseline, two-axis materiality, hierarchy collapse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5052060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0520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91947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Engine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52303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bridge, contribution, business-event join, residuals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69164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3368" y="1952244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195224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181965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Bundle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86600" y="2130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typed, hashed — the only thing the model can see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2724912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73368" y="2985516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298551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86600" y="285292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Abstention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86600" y="31638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5-component score; clarify / hard-abstain / competing hypotheses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3758184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2A4A3C"/>
          </a:solidFill>
          <a:ln/>
        </p:spPr>
      </p:sp>
      <p:sp>
        <p:nvSpPr>
          <p:cNvPr id="35" name="Shape 33"/>
          <p:cNvSpPr/>
          <p:nvPr/>
        </p:nvSpPr>
        <p:spPr>
          <a:xfrm>
            <a:off x="6373368" y="401878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F8A6E"/>
          </a:solidFill>
          <a:ln/>
        </p:spPr>
      </p:sp>
      <p:sp>
        <p:nvSpPr>
          <p:cNvPr id="36" name="Text 34"/>
          <p:cNvSpPr/>
          <p:nvPr/>
        </p:nvSpPr>
        <p:spPr>
          <a:xfrm>
            <a:off x="6373368" y="401878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86600" y="388620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+ Firewall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086600" y="41970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prose, numeric firewall, causal gate, action composer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4791456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73368" y="5052060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50520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86600" y="491947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Feedback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086600" y="52303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Digest, alert, conversational — one engine, every surface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L7 is generative — and even there, the model has no database connection.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 LADDER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 and most certain method runs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bridge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671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— algebra, not inference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770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contribution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815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for a slice; estimated for compositional mix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685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Business-event join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9959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near-free once the event exists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8C6D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599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association / causal inference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9103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Correlational, or causal under stated assumptions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577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5513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hypothesis + narrative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8247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quantitative authority — proposes tests, writes prose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evidence bundle, rendered for the CFO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6400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Revenue fell 8.7% WoW ($-5,758)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Revenue fell to $60,467 in week_30, down $5,758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(-8.7%) from $66,225 in week_29.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Promo campaign ended (AMER) coincided with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$-3,774 (65.5% of the movement)  [E-01]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SKU-4471 stockout in DE warehouse (EMEA)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coincided with $-1,637 (28.4%)  [E-02]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don't know: 7.0% of the movement is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unattributed residual.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HIGH (composite 0.85)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0" y="1783080"/>
            <a:ext cx="365760" cy="365760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75320" y="170992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[E-id] is clickable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opens the exact method, source table, freshness, and contribution share behind that number.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3200400"/>
            <a:ext cx="365760" cy="365760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31272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causal-sounding word is gated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“coincided with”, not “caused by” — this fact came from business-event-join, not a causal method.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4617720"/>
            <a:ext cx="365760" cy="365760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454456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by a template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tier T0, zero model calls, $0.00 — and still passed the numeric firewall on the first attempt.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SCORECARD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just build a convincing engine. We measured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drivers were injected into the synthetic data with known dollar impact. The diagnosis engine ran completely blind to those values.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83587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929738"/>
            <a:ext cx="24688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recall @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183587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29000" y="2929738"/>
            <a:ext cx="24688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(Spearman ρ)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183587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 pp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2929738"/>
            <a:ext cx="24688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error (target &lt; 5pp)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2183587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1.38 pp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06840" y="2929738"/>
            <a:ext cx="24688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error (target &lt; 3pp)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749040"/>
          <a:ext cx="11064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FIREWALL,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fifteen-second demo the brief asks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NARRATIVE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“...Confidence: HIGH (composite 0.85) — based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the required history, 93% of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explained.”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457200" cy="457200"/>
          </a:xfrm>
          <a:prstGeom prst="ellipse">
            <a:avLst/>
          </a:prstGeom>
          <a:solidFill>
            <a:srgbClr val="1F8A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977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— 0 orphan numerals, 0 causal overreach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TEXT, ONE SENTENCE INJECTED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“...This was primarily caused by a 3.4% swing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competitor pricing in the region. [E-99]”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931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— orphan numeral 0.034, no matching evidence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E-99 does not exist in the Evidence Bundle. The number 3.4% matches nothing the deterministic core ever computed. The firewall does not ask the model to be careful — it checks.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PERSONAS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event, two personas — enforced before the prompt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VISIBLE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drivers, all regions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DETAIL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actions, 3 escalations — no operational lever in this persona's rights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5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920240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1F8A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9202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Director (EMEA)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26060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VISIBLE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28803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Region-scoped — the AMER-only fact is absent from the bundle entirely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37033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DETAIL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39776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 masked; narrative states the limitation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4800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5074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action (channel-incentive, 1.8% impact), 1 escalation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policy: region_in(user.regions)  ·  enforced on the Evidence Bundle itself, before any prompt is built.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ABSTENTION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Abstaining well is a feature, not a failure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F8A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Clarify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08960" y="1920240"/>
            <a:ext cx="8275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is performance this week?” resolves to: “'performance' could mean gross_margin_pct or net_revenue — which one did you mean?”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5204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Hard abstain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3429000"/>
            <a:ext cx="8275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supply/cost feed is 26h stale against a 6h SLA. Gross Margin % is blocked — but Net Revenue, unaffected by that feed, is still shown as reliable.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5029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8C6D1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29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history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4937760"/>
            <a:ext cx="8275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3-week-old product line's CAC falls back to plan-vs-actual; confidence hard-capped at LOW (0.649) with the limitation stated, not hidden.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→ LEVER → ACTION →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are drawn from a registry — never invented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0280" y="173736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17373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lever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69080" y="173736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173736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F8A6E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26680" y="173736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3840" y="17373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555480" y="173736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plan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from the live run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channel_mix  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channel_incentive 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direct-channel incentive to rebalance mix away from marketplace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 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  (CI 0.5–3.0) 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verbatim from the lever registry — never computed by the narrative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lead time  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regional_sales / 14 days 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plan: watch asp + channel_mix for 30 days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a persona cannot act on becomes a named escalation — never a fabricated sense of agency. In the live run, the CFO persona escalates all three drivers in Scenario 1.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VS. NON-LLM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determinism accounting, on a single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2631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860243"/>
            <a:ext cx="2468880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narratives from the deterministic template tier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202631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860243"/>
            <a:ext cx="2468880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across every scenario in this build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02631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860243"/>
            <a:ext cx="2468880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insight, measured, not estimated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202631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06840" y="2860243"/>
            <a:ext cx="2468880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numeric-firewall violations shipped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performs exactly two bounded jobs in this architecture: parsing intent, and writing prose from a bundle it cannot alter. A tier router (T0 / T1 / T2) is implemented and evaluated on every bundle for cost/latency planning — this build renders 100% of narratives on T0, by choice, to keep the headline claim exceptionless rather than “almost always true.”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design targets ~92% deterministic compute at scale, with T1/T2 model tiers for higher-complexity cases — see the Business Proposal for the tier-routing economics.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data. One answer is wrong.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 averaging Gross Margin % across three regions vs. recomputing it from summed revenue and summed cost — on the prototype's own generated data: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309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2011680"/>
            <a:ext cx="443484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78040" y="220370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31.41%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269480" y="2862072"/>
            <a:ext cx="42519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average of the three region %s  —  WRONG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78040" y="3566160"/>
            <a:ext cx="443484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78040" y="375818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33.21%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269480" y="4416552"/>
            <a:ext cx="42519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recompute from summed components  —  RIGHT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8040" y="50749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−1.8 percentage points — caused entirely by APAC's higher landed cost on a smaller revenue base. An unweighted average overweights it; a governed recompute does not.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was built before the narrative, on 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22860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foundation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4114800"/>
            <a:ext cx="1810512" cy="822960"/>
          </a:xfrm>
          <a:prstGeom prst="roundRect">
            <a:avLst>
              <a:gd name="adj" fmla="val 16667"/>
            </a:avLst>
          </a:prstGeom>
          <a:solidFill>
            <a:srgbClr val="1F8A6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114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70632" y="20116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3557016" y="22860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62072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explain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907792" y="4114800"/>
            <a:ext cx="1810512" cy="822960"/>
          </a:xfrm>
          <a:prstGeom prst="roundRect">
            <a:avLst>
              <a:gd name="adj" fmla="val 16667"/>
            </a:avLst>
          </a:prstGeom>
          <a:solidFill>
            <a:srgbClr val="1F8A6E"/>
          </a:solidFill>
          <a:ln/>
        </p:spPr>
      </p:sp>
      <p:sp>
        <p:nvSpPr>
          <p:cNvPr id="15" name="Text 13"/>
          <p:cNvSpPr/>
          <p:nvPr/>
        </p:nvSpPr>
        <p:spPr>
          <a:xfrm>
            <a:off x="2953512" y="4114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— recall@3 = 3/3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92624" y="20116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779008" y="22860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779008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84064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&amp; govern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129784" y="4114800"/>
            <a:ext cx="1810512" cy="822960"/>
          </a:xfrm>
          <a:prstGeom prst="roundRect">
            <a:avLst>
              <a:gd name="adj" fmla="val 16667"/>
            </a:avLst>
          </a:prstGeom>
          <a:solidFill>
            <a:srgbClr val="8C6D1F"/>
          </a:solidFill>
          <a:ln/>
        </p:spPr>
      </p:sp>
      <p:sp>
        <p:nvSpPr>
          <p:cNvPr id="21" name="Text 19"/>
          <p:cNvSpPr/>
          <p:nvPr/>
        </p:nvSpPr>
        <p:spPr>
          <a:xfrm>
            <a:off x="5175504" y="4114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LIVE — model tier designed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14616" y="20116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2860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06056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&amp; learn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351776" y="4114800"/>
            <a:ext cx="1810512" cy="822960"/>
          </a:xfrm>
          <a:prstGeom prst="roundRect">
            <a:avLst>
              <a:gd name="adj" fmla="val 16667"/>
            </a:avLst>
          </a:prstGeom>
          <a:solidFill>
            <a:srgbClr val="8C6D1F"/>
          </a:solidFill>
          <a:ln/>
        </p:spPr>
      </p:sp>
      <p:sp>
        <p:nvSpPr>
          <p:cNvPr id="27" name="Text 25"/>
          <p:cNvSpPr/>
          <p:nvPr/>
        </p:nvSpPr>
        <p:spPr>
          <a:xfrm>
            <a:off x="7397496" y="4114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+ FEEDBACK LIVE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36608" y="201168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22992" y="22860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10222992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28048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&amp; scale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573768" y="4114800"/>
            <a:ext cx="1810512" cy="822960"/>
          </a:xfrm>
          <a:prstGeom prst="roundRect">
            <a:avLst>
              <a:gd name="adj" fmla="val 16667"/>
            </a:avLst>
          </a:prstGeom>
          <a:solidFill>
            <a:srgbClr val="5B6472"/>
          </a:solidFill>
          <a:ln/>
        </p:spPr>
      </p:sp>
      <p:sp>
        <p:nvSpPr>
          <p:cNvPr id="33" name="Text 31"/>
          <p:cNvSpPr/>
          <p:nvPr/>
        </p:nvSpPr>
        <p:spPr>
          <a:xfrm>
            <a:off x="9619488" y="4114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engine (Phases 0–1) was built and measured before any generative work — the correct engineering order, and the strongest signal that quantitative correctness was never delegated to a model.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Illustrative, for a 40-analyst enterprise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8483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~$600k/yr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96265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analyst capacity at 50% less time on ad-hoc diagnosis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208483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days → minutes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0560" y="296265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latency — ~$660k/yr from catching margin leaks earlier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08483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~$0.011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21040" y="296265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cost per insight at target tier mix (55% template / 35% small / 10% frontier)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the provable, year-one component of ROI is time-to-insight and action-outcome tracking — both measured directly by the audit ledger and feedback loop already running in this prototype. The larger avoided-risk figure is treated as upside, not the headline.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core. Generative shell.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turns “trust our engine” into “here is the number we measured.”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·  Recovery scorecard  ·  Live firewall demo  ·  Business proposal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Innovation Challenge 2026 — Round 2 — Track 3 (BusinessIntelligence.ai)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Accenture Innovation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VANTAGE</dc:creator>
  <cp:lastModifiedBy>VANTAGE</cp:lastModifiedBy>
  <cp:revision>1</cp:revision>
  <dcterms:created xsi:type="dcterms:W3CDTF">2026-08-23T11:58:53Z</dcterms:created>
  <dcterms:modified xsi:type="dcterms:W3CDTF">2026-08-23T11:58:53Z</dcterms:modified>
</cp:coreProperties>
</file>